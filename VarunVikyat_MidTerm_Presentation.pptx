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0D2B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320040"/>
            <a:ext cx="6949440" cy="640080"/>
          </a:xfrm>
          <a:prstGeom prst="rect">
            <a:avLst/>
          </a:prstGeom>
          <a:solidFill>
            <a:srgbClr val="E8E8F0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CyberSecure-Learn — A Local RAG-LLM Tutor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Secure Coding and Cybersecurity Education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Progress Presentation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Varun Vikyat B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220953624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and Communication Engineering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Guide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Ashutosh Holla B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SCE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Manipal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30632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Guide</a:t>
            </a:r>
            <a:endParaRPr lang="en-US" sz="13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Dheeraj Chillar</a:t>
            </a:r>
            <a:endParaRPr lang="en-US" sz="13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Head</a:t>
            </a:r>
            <a:endParaRPr lang="en-US" sz="13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Head, Apollo 24/7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91970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8188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and Communication Technology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498080" y="4800600"/>
            <a:ext cx="1645920" cy="342900"/>
          </a:xfrm>
          <a:prstGeom prst="rect">
            <a:avLst/>
          </a:prstGeom>
          <a:solidFill>
            <a:srgbClr val="3333AA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0" y="48188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 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0D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3333A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9197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188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and Communication Technology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8080" y="4800600"/>
            <a:ext cx="1645920" cy="342900"/>
          </a:xfrm>
          <a:prstGeom prst="rect">
            <a:avLst/>
          </a:prstGeom>
          <a:solidFill>
            <a:srgbClr val="3333AA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0" y="48188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005840"/>
            <a:ext cx="365760" cy="365760"/>
          </a:xfrm>
          <a:prstGeom prst="ellipse">
            <a:avLst/>
          </a:prstGeom>
          <a:solidFill>
            <a:srgbClr val="19197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1005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1664208"/>
            <a:ext cx="365760" cy="365760"/>
          </a:xfrm>
          <a:prstGeom prst="ellipse">
            <a:avLst/>
          </a:prstGeom>
          <a:solidFill>
            <a:srgbClr val="19197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16642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2322576"/>
            <a:ext cx="365760" cy="365760"/>
          </a:xfrm>
          <a:prstGeom prst="ellipse">
            <a:avLst/>
          </a:prstGeom>
          <a:solidFill>
            <a:srgbClr val="19197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322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4440" y="23225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2980944"/>
            <a:ext cx="365760" cy="365760"/>
          </a:xfrm>
          <a:prstGeom prst="ellipse">
            <a:avLst/>
          </a:prstGeom>
          <a:solidFill>
            <a:srgbClr val="191970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980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298094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3639312"/>
            <a:ext cx="365760" cy="365760"/>
          </a:xfrm>
          <a:prstGeom prst="ellipse">
            <a:avLst/>
          </a:prstGeom>
          <a:solidFill>
            <a:srgbClr val="19197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34440" y="36393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1005840"/>
            <a:ext cx="365760" cy="365760"/>
          </a:xfrm>
          <a:prstGeom prst="ellipse">
            <a:avLst/>
          </a:prstGeom>
          <a:solidFill>
            <a:srgbClr val="191970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1005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Done So Far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46320" y="1664208"/>
            <a:ext cx="365760" cy="365760"/>
          </a:xfrm>
          <a:prstGeom prst="ellipse">
            <a:avLst/>
          </a:prstGeom>
          <a:solidFill>
            <a:srgbClr val="191970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49240" y="16642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Demo Overview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46320" y="2322576"/>
            <a:ext cx="365760" cy="365760"/>
          </a:xfrm>
          <a:prstGeom prst="ellipse">
            <a:avLst/>
          </a:prstGeom>
          <a:solidFill>
            <a:srgbClr val="191970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322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49240" y="23225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Work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846320" y="2980944"/>
            <a:ext cx="365760" cy="365760"/>
          </a:xfrm>
          <a:prstGeom prst="ellipse">
            <a:avLst/>
          </a:prstGeom>
          <a:solidFill>
            <a:srgbClr val="191970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980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49240" y="298094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Impact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846320" y="3639312"/>
            <a:ext cx="365760" cy="365760"/>
          </a:xfrm>
          <a:prstGeom prst="ellipse">
            <a:avLst/>
          </a:prstGeom>
          <a:solidFill>
            <a:srgbClr val="191970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49240" y="36393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References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0D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3333A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9197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188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and Communication Technology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8080" y="4800600"/>
            <a:ext cx="1645920" cy="342900"/>
          </a:xfrm>
          <a:prstGeom prst="rect">
            <a:avLst/>
          </a:prstGeom>
          <a:solidFill>
            <a:srgbClr val="3333AA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0" y="48188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4114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24/7 handles sensitive patient &amp; insurance data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staff (customer care, insurance) access this data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cybersecurity awareness increases breach risk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training is static and non-interactive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struggle to identify threats in real-time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937760" y="868680"/>
            <a:ext cx="3840480" cy="2560320"/>
          </a:xfrm>
          <a:prstGeom prst="rect">
            <a:avLst/>
          </a:prstGeom>
          <a:solidFill>
            <a:srgbClr val="F5F5FA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960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12801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cybersecurity assistant using RAG + locally hosted LLM (Mistral via Ollama) — providing real-time, context-aware security guidance through a chat interface.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0640" y="22402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20640" y="2468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24/7, Hyderabad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Team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7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Areas: Cybersecurity | RAG Systems | Local LLM Deployment | NLP | Healthcare IT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0D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3333A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/ Background Theory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9197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188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and Communication Technology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8080" y="4800600"/>
            <a:ext cx="1645920" cy="342900"/>
          </a:xfrm>
          <a:prstGeom prst="rect">
            <a:avLst/>
          </a:prstGeom>
          <a:solidFill>
            <a:srgbClr val="3333AA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0" y="48188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solidFill>
            <a:srgbClr val="F5F5F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914400"/>
            <a:ext cx="54864" cy="731520"/>
          </a:xfrm>
          <a:prstGeom prst="rect">
            <a:avLst/>
          </a:prstGeom>
          <a:solidFill>
            <a:srgbClr val="2255A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960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Cybersecurity Training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12618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modules and workshops provide foundational knowledge but fail to deliver real-time, practical guidance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8229600" cy="731520"/>
          </a:xfrm>
          <a:prstGeom prst="rect">
            <a:avLst/>
          </a:prstGeom>
          <a:solidFill>
            <a:srgbClr val="F5F5F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783080"/>
            <a:ext cx="54864" cy="731520"/>
          </a:xfrm>
          <a:prstGeom prst="rect">
            <a:avLst/>
          </a:prstGeom>
          <a:solidFill>
            <a:srgbClr val="2255A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1828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(LLMs)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21305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like Mistral, deployed locally via Ollama, enable secure, privacy-preserving AI assistants for real-time Q&amp;A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solidFill>
            <a:srgbClr val="F5F5F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51760"/>
            <a:ext cx="54864" cy="731520"/>
          </a:xfrm>
          <a:prstGeom prst="rect">
            <a:avLst/>
          </a:prstGeom>
          <a:solidFill>
            <a:srgbClr val="2255AA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697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(RAG)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2999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Enhances LLMs by retrieving relevant context from a knowledge base before generating — reduces hallucinations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8229600" cy="731520"/>
          </a:xfrm>
          <a:prstGeom prst="rect">
            <a:avLst/>
          </a:prstGeom>
          <a:solidFill>
            <a:srgbClr val="F5F5F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520440"/>
            <a:ext cx="54864" cy="731520"/>
          </a:xfrm>
          <a:prstGeom prst="rect">
            <a:avLst/>
          </a:prstGeom>
          <a:solidFill>
            <a:srgbClr val="2255A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566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AI Systems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3867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 healthcare — eliminates cloud dependency and reduces risk of sensitive data exposure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0D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3333A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9197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188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and Communication Technology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8080" y="4800600"/>
            <a:ext cx="1645920" cy="342900"/>
          </a:xfrm>
          <a:prstGeom prst="rect">
            <a:avLst/>
          </a:prstGeom>
          <a:solidFill>
            <a:srgbClr val="3333AA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0" y="48188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005840"/>
            <a:ext cx="1920240" cy="1188720"/>
          </a:xfrm>
          <a:prstGeom prst="rect">
            <a:avLst/>
          </a:prstGeom>
          <a:solidFill>
            <a:srgbClr val="F5F5F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051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phishing &amp; social engineering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4600" y="1005840"/>
            <a:ext cx="1920240" cy="1188720"/>
          </a:xfrm>
          <a:prstGeom prst="rect">
            <a:avLst/>
          </a:prstGeom>
          <a:solidFill>
            <a:srgbClr val="F5F5F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051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06040" y="1554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awareness in non-tech staff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1920240" cy="1188720"/>
          </a:xfrm>
          <a:prstGeom prst="rect">
            <a:avLst/>
          </a:prstGeom>
          <a:solidFill>
            <a:srgbClr val="F5F5F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051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54880" y="1554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training methods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12280" y="1005840"/>
            <a:ext cx="1920240" cy="1188720"/>
          </a:xfrm>
          <a:prstGeom prst="rect">
            <a:avLst/>
          </a:prstGeom>
          <a:solidFill>
            <a:srgbClr val="F5F5F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1051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03720" y="1554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across departments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Need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interactive, scalable, and secure system that provides real-time cybersecurity guidance, improves awareness, and continuously assesses employee knowledge in a practical and accessible manner.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566160"/>
            <a:ext cx="80467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Improper handling of patient and insurance data daily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assistance during practical security scenarios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platform combining learning + assessment + guidance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0D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3333A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9197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188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and Communication Technology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8080" y="4800600"/>
            <a:ext cx="1645920" cy="342900"/>
          </a:xfrm>
          <a:prstGeom prst="rect">
            <a:avLst/>
          </a:prstGeom>
          <a:solidFill>
            <a:srgbClr val="3333AA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0" y="48188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005840"/>
            <a:ext cx="292608" cy="292608"/>
          </a:xfrm>
          <a:prstGeom prst="ellipse">
            <a:avLst/>
          </a:prstGeom>
          <a:solidFill>
            <a:srgbClr val="19197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005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960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develop an AI-powered cybersecurity assistant using RAG architecture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1481328"/>
            <a:ext cx="292608" cy="292608"/>
          </a:xfrm>
          <a:prstGeom prst="ellipse">
            <a:avLst/>
          </a:prstGeom>
          <a:solidFill>
            <a:srgbClr val="19197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143560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locally hosted LLM (Mistral via Ollama) for data privacy and offline capability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1956816"/>
            <a:ext cx="292608" cy="292608"/>
          </a:xfrm>
          <a:prstGeom prst="ellipse">
            <a:avLst/>
          </a:prstGeom>
          <a:solidFill>
            <a:srgbClr val="19197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1956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191109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interactive querying of cybersecurity scenarios with context-aware guidance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2432304"/>
            <a:ext cx="292608" cy="292608"/>
          </a:xfrm>
          <a:prstGeom prst="ellipse">
            <a:avLst/>
          </a:prstGeom>
          <a:solidFill>
            <a:srgbClr val="19197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432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238658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cybersecurity concepts for non-technical users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2907792"/>
            <a:ext cx="292608" cy="292608"/>
          </a:xfrm>
          <a:prstGeom prst="ellipse">
            <a:avLst/>
          </a:prstGeom>
          <a:solidFill>
            <a:srgbClr val="19197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286207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monthly cybersecurity assessments and awareness tests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3383280"/>
            <a:ext cx="292608" cy="292608"/>
          </a:xfrm>
          <a:prstGeom prst="ellipse">
            <a:avLst/>
          </a:prstGeom>
          <a:solidFill>
            <a:srgbClr val="19197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3337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real-time recommendations for secure practices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3858768"/>
            <a:ext cx="292608" cy="292608"/>
          </a:xfrm>
          <a:prstGeom prst="ellipse">
            <a:avLst/>
          </a:prstGeom>
          <a:solidFill>
            <a:srgbClr val="191970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858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381304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continuous learning and proactive threat awareness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0D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3333A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Six Phases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9197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188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and Communication Technology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8080" y="4800600"/>
            <a:ext cx="1645920" cy="342900"/>
          </a:xfrm>
          <a:prstGeom prst="rect">
            <a:avLst/>
          </a:prstGeom>
          <a:solidFill>
            <a:srgbClr val="3333AA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0" y="48188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7160" y="1005840"/>
            <a:ext cx="1325880" cy="1005840"/>
          </a:xfrm>
          <a:prstGeom prst="rect">
            <a:avLst/>
          </a:prstGeom>
          <a:solidFill>
            <a:srgbClr val="4F5D75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" y="102412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5448" y="2103120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55448" y="2606040"/>
            <a:ext cx="1289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Ollama,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417320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645920" y="1005840"/>
            <a:ext cx="1325880" cy="1005840"/>
          </a:xfrm>
          <a:prstGeom prst="rect">
            <a:avLst/>
          </a:prstGeom>
          <a:solidFill>
            <a:srgbClr val="2255AA"/>
          </a:solidFill>
          <a:ln/>
        </p:spPr>
      </p:sp>
      <p:sp>
        <p:nvSpPr>
          <p:cNvPr id="16" name="Text 13"/>
          <p:cNvSpPr/>
          <p:nvPr/>
        </p:nvSpPr>
        <p:spPr>
          <a:xfrm>
            <a:off x="1645920" y="102412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23444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664208" y="2103120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1664208" y="2606040"/>
            <a:ext cx="1289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FAISS, Embeddings,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2926080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3154680" y="1005840"/>
            <a:ext cx="1325880" cy="10058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2" name="Text 18"/>
          <p:cNvSpPr/>
          <p:nvPr/>
        </p:nvSpPr>
        <p:spPr>
          <a:xfrm>
            <a:off x="3154680" y="102412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23444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172968" y="2103120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Integration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Prompts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3172968" y="2606040"/>
            <a:ext cx="1289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Mistral, RAG prompts,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4434840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4663440" y="1005840"/>
            <a:ext cx="1325880" cy="10058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8" name="Text 23"/>
          <p:cNvSpPr/>
          <p:nvPr/>
        </p:nvSpPr>
        <p:spPr>
          <a:xfrm>
            <a:off x="4663440" y="102412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75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234440"/>
            <a:ext cx="365760" cy="3657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681728" y="2103120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System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Memory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4681728" y="2606040"/>
            <a:ext cx="1289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chatbot, JSON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history, sessions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5943600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6172200" y="1005840"/>
            <a:ext cx="1325880" cy="1005840"/>
          </a:xfrm>
          <a:prstGeom prst="rect">
            <a:avLst/>
          </a:prstGeom>
          <a:solidFill>
            <a:srgbClr val="228B22"/>
          </a:solidFill>
          <a:ln/>
        </p:spPr>
      </p:sp>
      <p:sp>
        <p:nvSpPr>
          <p:cNvPr id="34" name="Text 28"/>
          <p:cNvSpPr/>
          <p:nvPr/>
        </p:nvSpPr>
        <p:spPr>
          <a:xfrm>
            <a:off x="6172200" y="102412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75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234440"/>
            <a:ext cx="365760" cy="36576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6190488" y="2103120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6190488" y="2606040"/>
            <a:ext cx="1289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tests,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Q&amp;A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7452360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7680960" y="1005840"/>
            <a:ext cx="1325880" cy="1005840"/>
          </a:xfrm>
          <a:prstGeom prst="rect">
            <a:avLst/>
          </a:prstGeom>
          <a:solidFill>
            <a:srgbClr val="6633AA"/>
          </a:solidFill>
          <a:ln/>
        </p:spPr>
      </p:sp>
      <p:sp>
        <p:nvSpPr>
          <p:cNvPr id="40" name="Text 33"/>
          <p:cNvSpPr/>
          <p:nvPr/>
        </p:nvSpPr>
        <p:spPr>
          <a:xfrm>
            <a:off x="7680960" y="102412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750" dirty="0"/>
          </a:p>
        </p:txBody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0" y="1234440"/>
            <a:ext cx="365760" cy="36576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7699248" y="2103120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050" dirty="0"/>
          </a:p>
        </p:txBody>
      </p:sp>
      <p:sp>
        <p:nvSpPr>
          <p:cNvPr id="43" name="Text 35"/>
          <p:cNvSpPr/>
          <p:nvPr/>
        </p:nvSpPr>
        <p:spPr>
          <a:xfrm>
            <a:off x="7699248" y="2606040"/>
            <a:ext cx="1289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Re-ranking,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0D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3333A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RAG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9197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188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and Communication Technology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8080" y="4800600"/>
            <a:ext cx="1645920" cy="342900"/>
          </a:xfrm>
          <a:prstGeom prst="rect">
            <a:avLst/>
          </a:prstGeom>
          <a:solidFill>
            <a:srgbClr val="3333AA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0" y="48188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1508760" cy="1097280"/>
          </a:xfrm>
          <a:prstGeom prst="rect">
            <a:avLst/>
          </a:prstGeom>
          <a:solidFill>
            <a:srgbClr val="4F5D75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28600" y="16916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(PDFs)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69164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2011680" y="1188720"/>
            <a:ext cx="1508760" cy="1097280"/>
          </a:xfrm>
          <a:prstGeom prst="rect">
            <a:avLst/>
          </a:prstGeom>
          <a:solidFill>
            <a:srgbClr val="2255A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28016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011680" y="16916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FAISS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47472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3794760" y="1188720"/>
            <a:ext cx="1508760" cy="109728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28016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794760" y="16916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25780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5577840" y="1188720"/>
            <a:ext cx="1508760" cy="1097280"/>
          </a:xfrm>
          <a:prstGeom prst="rect">
            <a:avLst/>
          </a:prstGeom>
          <a:solidFill>
            <a:srgbClr val="CC000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28016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77840" y="16916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LLM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(Ollama)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04088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19"/>
          <p:cNvSpPr/>
          <p:nvPr/>
        </p:nvSpPr>
        <p:spPr>
          <a:xfrm>
            <a:off x="7360920" y="1188720"/>
            <a:ext cx="1508760" cy="1097280"/>
          </a:xfrm>
          <a:prstGeom prst="rect">
            <a:avLst/>
          </a:prstGeom>
          <a:solidFill>
            <a:srgbClr val="228B2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128016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60920" y="16916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457200" y="2651760"/>
            <a:ext cx="3931920" cy="1645920"/>
          </a:xfrm>
          <a:prstGeom prst="rect">
            <a:avLst/>
          </a:prstGeom>
          <a:solidFill>
            <a:srgbClr val="F5F5F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40080" y="2743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Details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640080" y="3063240"/>
            <a:ext cx="35661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ingestion → text extraction → cleaning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SentenceTransformers for embedding generation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FAISS-based semantic search with top-k retrieval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Re-ranking for improved accuracy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4754880" y="2651760"/>
            <a:ext cx="3931920" cy="1645920"/>
          </a:xfrm>
          <a:prstGeom prst="rect">
            <a:avLst/>
          </a:prstGeom>
          <a:solidFill>
            <a:srgbClr val="F5F5F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4937760" y="2743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4937760" y="3063240"/>
            <a:ext cx="35661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Local-only processing — no cloud dependency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via Ollama for privacy-preserving inference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prompts with source attribution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history with memory capping &amp; summarization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0D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3333A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Done — Environment &amp; RAG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9197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188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and Communication Technology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8080" y="4800600"/>
            <a:ext cx="1645920" cy="342900"/>
          </a:xfrm>
          <a:prstGeom prst="rect">
            <a:avLst/>
          </a:prstGeom>
          <a:solidFill>
            <a:srgbClr val="3333AA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0" y="48188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38404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environment with all dependencies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installed for local Mistral deployment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organized (PDFs, OWASP, secure coding)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store built and stored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5488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Development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280160"/>
            <a:ext cx="38404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ingestion and preprocessing implemented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pipeline using SentenceTransformers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FAISS-based semantic search system built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retrieval with re-ranking for accuracy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8229600" cy="1188720"/>
          </a:xfrm>
          <a:prstGeom prst="rect">
            <a:avLst/>
          </a:prstGeom>
          <a:solidFill>
            <a:srgbClr val="F5F5F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00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3566160"/>
            <a:ext cx="868680" cy="320040"/>
          </a:xfrm>
          <a:prstGeom prst="rect">
            <a:avLst/>
          </a:prstGeom>
          <a:solidFill>
            <a:srgbClr val="2255A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5661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691640" y="3566160"/>
            <a:ext cx="868680" cy="320040"/>
          </a:xfrm>
          <a:prstGeom prst="rect">
            <a:avLst/>
          </a:prstGeom>
          <a:solidFill>
            <a:srgbClr val="2255AA"/>
          </a:solidFill>
          <a:ln/>
        </p:spPr>
      </p:sp>
      <p:sp>
        <p:nvSpPr>
          <p:cNvPr id="18" name="Text 16"/>
          <p:cNvSpPr/>
          <p:nvPr/>
        </p:nvSpPr>
        <p:spPr>
          <a:xfrm>
            <a:off x="1691640" y="35661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97480" y="3566160"/>
            <a:ext cx="868680" cy="320040"/>
          </a:xfrm>
          <a:prstGeom prst="rect">
            <a:avLst/>
          </a:prstGeom>
          <a:solidFill>
            <a:srgbClr val="2255AA"/>
          </a:solidFill>
          <a:ln/>
        </p:spPr>
      </p:sp>
      <p:sp>
        <p:nvSpPr>
          <p:cNvPr id="20" name="Text 18"/>
          <p:cNvSpPr/>
          <p:nvPr/>
        </p:nvSpPr>
        <p:spPr>
          <a:xfrm>
            <a:off x="2697480" y="35661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LLM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703320" y="3566160"/>
            <a:ext cx="868680" cy="320040"/>
          </a:xfrm>
          <a:prstGeom prst="rect">
            <a:avLst/>
          </a:prstGeom>
          <a:solidFill>
            <a:srgbClr val="2255AA"/>
          </a:solidFill>
          <a:ln/>
        </p:spPr>
      </p:sp>
      <p:sp>
        <p:nvSpPr>
          <p:cNvPr id="22" name="Text 20"/>
          <p:cNvSpPr/>
          <p:nvPr/>
        </p:nvSpPr>
        <p:spPr>
          <a:xfrm>
            <a:off x="3703320" y="35661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868680" cy="320040"/>
          </a:xfrm>
          <a:prstGeom prst="rect">
            <a:avLst/>
          </a:prstGeom>
          <a:solidFill>
            <a:srgbClr val="2255AA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35661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SentenceTransformers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715000" y="3566160"/>
            <a:ext cx="868680" cy="320040"/>
          </a:xfrm>
          <a:prstGeom prst="rect">
            <a:avLst/>
          </a:prstGeom>
          <a:solidFill>
            <a:srgbClr val="2255AA"/>
          </a:solidFill>
          <a:ln/>
        </p:spPr>
      </p:sp>
      <p:sp>
        <p:nvSpPr>
          <p:cNvPr id="26" name="Text 24"/>
          <p:cNvSpPr/>
          <p:nvPr/>
        </p:nvSpPr>
        <p:spPr>
          <a:xfrm>
            <a:off x="5715000" y="35661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720840" y="3566160"/>
            <a:ext cx="868680" cy="320040"/>
          </a:xfrm>
          <a:prstGeom prst="rect">
            <a:avLst/>
          </a:prstGeom>
          <a:solidFill>
            <a:srgbClr val="2255AA"/>
          </a:solidFill>
          <a:ln/>
        </p:spPr>
      </p:sp>
      <p:sp>
        <p:nvSpPr>
          <p:cNvPr id="28" name="Text 26"/>
          <p:cNvSpPr/>
          <p:nvPr/>
        </p:nvSpPr>
        <p:spPr>
          <a:xfrm>
            <a:off x="6720840" y="35661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726680" y="3566160"/>
            <a:ext cx="868680" cy="320040"/>
          </a:xfrm>
          <a:prstGeom prst="rect">
            <a:avLst/>
          </a:prstGeom>
          <a:solidFill>
            <a:srgbClr val="2255AA"/>
          </a:solidFill>
          <a:ln/>
        </p:spPr>
      </p:sp>
      <p:sp>
        <p:nvSpPr>
          <p:cNvPr id="30" name="Text 28"/>
          <p:cNvSpPr/>
          <p:nvPr/>
        </p:nvSpPr>
        <p:spPr>
          <a:xfrm>
            <a:off x="7726680" y="35661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0D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3333A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Done — LLM Integration &amp; Chat System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9197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188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and Communication Technology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8080" y="4800600"/>
            <a:ext cx="1645920" cy="342900"/>
          </a:xfrm>
          <a:prstGeom prst="rect">
            <a:avLst/>
          </a:prstGeom>
          <a:solidFill>
            <a:srgbClr val="3333AA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0" y="48188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914400"/>
            <a:ext cx="3931920" cy="3200400"/>
          </a:xfrm>
          <a:prstGeom prst="rect">
            <a:avLst/>
          </a:prstGeom>
          <a:solidFill>
            <a:srgbClr val="F5F5F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914400"/>
            <a:ext cx="54864" cy="32004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Integration &amp; Prompt Engineering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1417320"/>
            <a:ext cx="34747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integrated via Ollama for local inference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for safe, ethical, educational responses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prompt construction with source attribution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to reduce hallucinations and improve accuracy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3931920" cy="3200400"/>
          </a:xfrm>
          <a:prstGeom prst="rect">
            <a:avLst/>
          </a:prstGeom>
          <a:solidFill>
            <a:srgbClr val="F5F5F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914400"/>
            <a:ext cx="54864" cy="3200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System &amp; Memory Management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1417320"/>
            <a:ext cx="34747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CLI-based interactive chatbot developed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JSON-based chat history for multi-session continuity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capping and summarization for long conversations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responses using prior interactions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0D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3333A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Done — Assessment Module &amp; Evaluation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9197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188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and Communication Technology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8080" y="4800600"/>
            <a:ext cx="1645920" cy="342900"/>
          </a:xfrm>
          <a:prstGeom prst="rect">
            <a:avLst/>
          </a:prstGeom>
          <a:solidFill>
            <a:srgbClr val="3333AA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0" y="48188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914400"/>
            <a:ext cx="3931920" cy="2286000"/>
          </a:xfrm>
          <a:prstGeom prst="rect">
            <a:avLst/>
          </a:prstGeom>
          <a:solidFill>
            <a:srgbClr val="F5F5F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914400"/>
            <a:ext cx="3931920" cy="45720"/>
          </a:xfrm>
          <a:prstGeom prst="rect">
            <a:avLst/>
          </a:prstGeom>
          <a:solidFill>
            <a:srgbClr val="228B2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Assessment Module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1417320"/>
            <a:ext cx="34747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cybersecurity awareness tests designed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Scenario-based questions for non-tech departments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tracking and feedback mechanisms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 through interactive Q&amp;A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3931920" cy="2286000"/>
          </a:xfrm>
          <a:prstGeom prst="rect">
            <a:avLst/>
          </a:prstGeom>
          <a:solidFill>
            <a:srgbClr val="F5F5F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914400"/>
            <a:ext cx="3931920" cy="45720"/>
          </a:xfrm>
          <a:prstGeom prst="rect">
            <a:avLst/>
          </a:prstGeom>
          <a:solidFill>
            <a:srgbClr val="6633AA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Evaluation &amp; Improvements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417320"/>
            <a:ext cx="34747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response relevance and context accuracy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retrieval quality using re-ranking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knowledge base coverage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Ensured reliable responses for real-world scenarios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0D0D2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5661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Outcome: A fully functional local RAG-based cybersecurity assistant enabling real-time, interactive learning for non-technical employees at Apollo 24/7 — a scalable solution to improve awareness and reduce human-related security risks.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0D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3333A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Features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9197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188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and Communication Technology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8080" y="4800600"/>
            <a:ext cx="1645920" cy="342900"/>
          </a:xfrm>
          <a:prstGeom prst="rect">
            <a:avLst/>
          </a:prstGeom>
          <a:solidFill>
            <a:srgbClr val="3333AA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0" y="48188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914400"/>
            <a:ext cx="2606040" cy="1463040"/>
          </a:xfrm>
          <a:prstGeom prst="rect">
            <a:avLst/>
          </a:prstGeom>
          <a:solidFill>
            <a:srgbClr val="F5F5FA"/>
          </a:solidFill>
          <a:ln w="6350">
            <a:solidFill>
              <a:srgbClr val="DDDDE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00584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60" y="1463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1828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processing on-device, no cloud dependency, HIPAA-friendly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46120" y="914400"/>
            <a:ext cx="2606040" cy="1463040"/>
          </a:xfrm>
          <a:prstGeom prst="rect">
            <a:avLst/>
          </a:prstGeom>
          <a:solidFill>
            <a:srgbClr val="F5F5FA"/>
          </a:solidFill>
          <a:ln w="6350">
            <a:solidFill>
              <a:srgbClr val="DDDDE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00584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46120" y="1463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337560" y="1828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retrieves relevant docs before answering — grounded outputs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26480" y="914400"/>
            <a:ext cx="2606040" cy="1463040"/>
          </a:xfrm>
          <a:prstGeom prst="rect">
            <a:avLst/>
          </a:prstGeom>
          <a:solidFill>
            <a:srgbClr val="F5F5FA"/>
          </a:solidFill>
          <a:ln w="6350">
            <a:solidFill>
              <a:srgbClr val="DDDDE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0584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26480" y="1463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217920" y="1828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Multi-session CLI chatbot with memory and summarization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65760" y="2606040"/>
            <a:ext cx="2606040" cy="1463040"/>
          </a:xfrm>
          <a:prstGeom prst="rect">
            <a:avLst/>
          </a:prstGeom>
          <a:solidFill>
            <a:srgbClr val="F5F5FA"/>
          </a:solidFill>
          <a:ln w="6350">
            <a:solidFill>
              <a:srgbClr val="DDDDEE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69748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65760" y="3154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3520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Scenario-based quizzes with tracking and feedback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246120" y="2606040"/>
            <a:ext cx="2606040" cy="1463040"/>
          </a:xfrm>
          <a:prstGeom prst="rect">
            <a:avLst/>
          </a:prstGeom>
          <a:solidFill>
            <a:srgbClr val="F5F5FA"/>
          </a:solidFill>
          <a:ln w="6350">
            <a:solidFill>
              <a:srgbClr val="DDDDEE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269748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246120" y="3154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337560" y="3520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cite OWASP and knowledge base sources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26480" y="2606040"/>
            <a:ext cx="2606040" cy="1463040"/>
          </a:xfrm>
          <a:prstGeom prst="rect">
            <a:avLst/>
          </a:prstGeom>
          <a:solidFill>
            <a:srgbClr val="F5F5FA"/>
          </a:solidFill>
          <a:ln w="6350">
            <a:solidFill>
              <a:srgbClr val="DDDDEE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2697480"/>
            <a:ext cx="411480" cy="4114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126480" y="3154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6217920" y="3520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prompt engineering minimizes fabricated answers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0D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3333A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Work — CyberSecure-Learn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9197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188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and Communication Technology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8080" y="4800600"/>
            <a:ext cx="1645920" cy="342900"/>
          </a:xfrm>
          <a:prstGeom prst="rect">
            <a:avLst/>
          </a:prstGeom>
          <a:solidFill>
            <a:srgbClr val="3333AA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0" y="48188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005840"/>
            <a:ext cx="804672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development to replace CLI for non-technical accessibility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RAG pipeline — improved retrieval accuracy and re-ranking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knowledge base with more real-world attack scenarios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support for organizational deployment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reduction of hallucinations in responses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evaluation metrics for performance measurement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optimization for faster local inference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0D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3333A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Work — VPN Application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9197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188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and Communication Technology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8080" y="4800600"/>
            <a:ext cx="1645920" cy="342900"/>
          </a:xfrm>
          <a:prstGeom prst="rect">
            <a:avLst/>
          </a:prstGeom>
          <a:solidFill>
            <a:srgbClr val="3333AA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0" y="48188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914400"/>
            <a:ext cx="3931920" cy="3200400"/>
          </a:xfrm>
          <a:prstGeom prst="rect">
            <a:avLst/>
          </a:prstGeom>
          <a:solidFill>
            <a:srgbClr val="F5F5F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914400"/>
            <a:ext cx="3931920" cy="411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932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Flutter App Development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1463040"/>
            <a:ext cx="347472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OpenVPN integration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global server locations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network monitoring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UI/UX with Lottie animations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stability and failover handling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security and encryption layers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3931920" cy="3200400"/>
          </a:xfrm>
          <a:prstGeom prst="rect">
            <a:avLst/>
          </a:prstGeom>
          <a:solidFill>
            <a:srgbClr val="F5F5F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914400"/>
            <a:ext cx="3931920" cy="411480"/>
          </a:xfrm>
          <a:prstGeom prst="rect">
            <a:avLst/>
          </a:prstGeom>
          <a:solidFill>
            <a:srgbClr val="2255AA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932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Final Steps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146304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 for performance and security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Cross-device and environment testing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documentation and report preparation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optimization and resource usage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AI assistant + VPN unified platform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0D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3333A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Work — Timeline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9197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188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and Communication Technology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8080" y="4800600"/>
            <a:ext cx="1645920" cy="342900"/>
          </a:xfrm>
          <a:prstGeom prst="rect">
            <a:avLst/>
          </a:prstGeom>
          <a:solidFill>
            <a:srgbClr val="3333AA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0" y="48188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229600" cy="36576"/>
          </a:xfrm>
          <a:prstGeom prst="rect">
            <a:avLst/>
          </a:prstGeom>
          <a:solidFill>
            <a:srgbClr val="2255AA"/>
          </a:solidFill>
          <a:ln/>
        </p:spPr>
      </p:sp>
      <p:sp>
        <p:nvSpPr>
          <p:cNvPr id="10" name="Shape 8"/>
          <p:cNvSpPr/>
          <p:nvPr/>
        </p:nvSpPr>
        <p:spPr>
          <a:xfrm>
            <a:off x="1234440" y="2286000"/>
            <a:ext cx="201168" cy="201168"/>
          </a:xfrm>
          <a:prstGeom prst="ellipse">
            <a:avLst/>
          </a:prstGeom>
          <a:solidFill>
            <a:srgbClr val="2255AA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188720"/>
            <a:ext cx="1645920" cy="822960"/>
          </a:xfrm>
          <a:prstGeom prst="rect">
            <a:avLst/>
          </a:prstGeom>
          <a:solidFill>
            <a:srgbClr val="F5F5F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Dev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Enhancements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16736" y="2011680"/>
            <a:ext cx="18288" cy="274320"/>
          </a:xfrm>
          <a:prstGeom prst="rect">
            <a:avLst/>
          </a:prstGeom>
          <a:solidFill>
            <a:srgbClr val="DDDDEE"/>
          </a:solidFill>
          <a:ln/>
        </p:spPr>
      </p:sp>
      <p:sp>
        <p:nvSpPr>
          <p:cNvPr id="15" name="Shape 13"/>
          <p:cNvSpPr/>
          <p:nvPr/>
        </p:nvSpPr>
        <p:spPr>
          <a:xfrm>
            <a:off x="3291840" y="2286000"/>
            <a:ext cx="201168" cy="201168"/>
          </a:xfrm>
          <a:prstGeom prst="ellipse">
            <a:avLst/>
          </a:prstGeom>
          <a:solidFill>
            <a:srgbClr val="2255AA"/>
          </a:solidFill>
          <a:ln/>
        </p:spPr>
      </p:sp>
      <p:sp>
        <p:nvSpPr>
          <p:cNvPr id="16" name="Shape 14"/>
          <p:cNvSpPr/>
          <p:nvPr/>
        </p:nvSpPr>
        <p:spPr>
          <a:xfrm>
            <a:off x="2697480" y="2697480"/>
            <a:ext cx="1645920" cy="822960"/>
          </a:xfrm>
          <a:prstGeom prst="rect">
            <a:avLst/>
          </a:prstGeom>
          <a:solidFill>
            <a:srgbClr val="F5F5F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97480" y="27432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97480" y="2971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App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74136" y="2487168"/>
            <a:ext cx="18288" cy="210312"/>
          </a:xfrm>
          <a:prstGeom prst="rect">
            <a:avLst/>
          </a:prstGeom>
          <a:solidFill>
            <a:srgbClr val="DDDDEE"/>
          </a:solidFill>
          <a:ln/>
        </p:spPr>
      </p:sp>
      <p:sp>
        <p:nvSpPr>
          <p:cNvPr id="20" name="Shape 18"/>
          <p:cNvSpPr/>
          <p:nvPr/>
        </p:nvSpPr>
        <p:spPr>
          <a:xfrm>
            <a:off x="5349240" y="2286000"/>
            <a:ext cx="201168" cy="201168"/>
          </a:xfrm>
          <a:prstGeom prst="ellipse">
            <a:avLst/>
          </a:prstGeom>
          <a:solidFill>
            <a:srgbClr val="2255AA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1188720"/>
            <a:ext cx="1645920" cy="822960"/>
          </a:xfrm>
          <a:prstGeom prst="rect">
            <a:avLst/>
          </a:prstGeom>
          <a:solidFill>
            <a:srgbClr val="F5F5F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2344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31536" y="2011680"/>
            <a:ext cx="18288" cy="274320"/>
          </a:xfrm>
          <a:prstGeom prst="rect">
            <a:avLst/>
          </a:prstGeom>
          <a:solidFill>
            <a:srgbClr val="DDDDEE"/>
          </a:solidFill>
          <a:ln/>
        </p:spPr>
      </p:sp>
      <p:sp>
        <p:nvSpPr>
          <p:cNvPr id="25" name="Shape 23"/>
          <p:cNvSpPr/>
          <p:nvPr/>
        </p:nvSpPr>
        <p:spPr>
          <a:xfrm>
            <a:off x="7406640" y="2286000"/>
            <a:ext cx="201168" cy="201168"/>
          </a:xfrm>
          <a:prstGeom prst="ellipse">
            <a:avLst/>
          </a:prstGeom>
          <a:solidFill>
            <a:srgbClr val="2255AA"/>
          </a:solidFill>
          <a:ln/>
        </p:spPr>
      </p:sp>
      <p:sp>
        <p:nvSpPr>
          <p:cNvPr id="26" name="Shape 24"/>
          <p:cNvSpPr/>
          <p:nvPr/>
        </p:nvSpPr>
        <p:spPr>
          <a:xfrm>
            <a:off x="6812280" y="2697480"/>
            <a:ext cx="1645920" cy="822960"/>
          </a:xfrm>
          <a:prstGeom prst="rect">
            <a:avLst/>
          </a:prstGeom>
          <a:solidFill>
            <a:srgbClr val="F5F5F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27432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12280" y="2971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Submission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488936" y="2487168"/>
            <a:ext cx="18288" cy="210312"/>
          </a:xfrm>
          <a:prstGeom prst="rect">
            <a:avLst/>
          </a:prstGeom>
          <a:solidFill>
            <a:srgbClr val="DDDDEE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0D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3333A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Impact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9197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188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and Communication Technology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8080" y="4800600"/>
            <a:ext cx="1645920" cy="342900"/>
          </a:xfrm>
          <a:prstGeom prst="rect">
            <a:avLst/>
          </a:prstGeom>
          <a:solidFill>
            <a:srgbClr val="3333AA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0" y="48188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914400"/>
            <a:ext cx="1965960" cy="1463040"/>
          </a:xfrm>
          <a:prstGeom prst="rect">
            <a:avLst/>
          </a:prstGeom>
          <a:solidFill>
            <a:srgbClr val="F5F5F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005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Staff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4173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learning,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guidance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14600" y="914400"/>
            <a:ext cx="1965960" cy="1463040"/>
          </a:xfrm>
          <a:prstGeom prst="rect">
            <a:avLst/>
          </a:prstGeom>
          <a:solidFill>
            <a:srgbClr val="F5F5F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005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14173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human-related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914400"/>
            <a:ext cx="1965960" cy="1463040"/>
          </a:xfrm>
          <a:prstGeom prst="rect">
            <a:avLst/>
          </a:prstGeom>
          <a:solidFill>
            <a:srgbClr val="F5F5F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005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/ Security Team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4173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learning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platform, assessments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03720" y="914400"/>
            <a:ext cx="1965960" cy="1463040"/>
          </a:xfrm>
          <a:prstGeom prst="rect">
            <a:avLst/>
          </a:prstGeom>
          <a:solidFill>
            <a:srgbClr val="F5F5F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1005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(VPN)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95160" y="14173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connections,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743200"/>
            <a:ext cx="8229600" cy="1554480"/>
          </a:xfrm>
          <a:prstGeom prst="rect">
            <a:avLst/>
          </a:prstGeom>
          <a:solidFill>
            <a:srgbClr val="0D0D2B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28346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Security Ecosystem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3200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CyberSecure-Learn (Knowledge Security) + VPN Application (Data Security)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AI-based learning with encrypted communication — aligning with modern enterprise security requirements and creating a unified platform for organizational cybersecurity.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0D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3333A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9197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188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and Communication Technology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8080" y="4800600"/>
            <a:ext cx="1645920" cy="342900"/>
          </a:xfrm>
          <a:prstGeom prst="rect">
            <a:avLst/>
          </a:prstGeom>
          <a:solidFill>
            <a:srgbClr val="3333AA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0" y="48188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been achieved so far: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804672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RAG-based cybersecurity assistant built and tested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deployment ensures data privacy — no cloud dependency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responses grounded in trusted OWASP and security resources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chat with multi-session memory and summarization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assessment module with scenario-based questions and tracking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evaluated for response quality and continuously improved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remains: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200400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for accessibility, VPN Flutter app completion, multi-user deployment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retrieval optimization, knowledge base expansion, unified security platform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9197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188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and Communication Technology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7498080" y="4800600"/>
            <a:ext cx="1645920" cy="342900"/>
          </a:xfrm>
          <a:prstGeom prst="rect">
            <a:avLst/>
          </a:prstGeom>
          <a:solidFill>
            <a:srgbClr val="3333AA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0" y="48188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371600" y="1645920"/>
            <a:ext cx="6400800" cy="914400"/>
          </a:xfrm>
          <a:prstGeom prst="rect">
            <a:avLst/>
          </a:prstGeom>
          <a:solidFill>
            <a:srgbClr val="E8E8F0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16459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Documentation  |  Mistral AI  |  FAISS (Facebook AI)  |  SentenceTransformers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 |  NLTK  |  Flutter Documentation  |  OpenVPN  |  IP-API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Varun Vikyat B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220953624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CyberSecure-Learn - Mid-Term Progress</dc:title>
  <dc:subject>PptxGenJS Presentation</dc:subject>
  <dc:creator>Varun Vikyat B</dc:creator>
  <cp:lastModifiedBy>Varun Vikyat B</cp:lastModifiedBy>
  <cp:revision>1</cp:revision>
  <dcterms:created xsi:type="dcterms:W3CDTF">2026-04-19T20:48:45Z</dcterms:created>
  <dcterms:modified xsi:type="dcterms:W3CDTF">2026-04-19T20:48:45Z</dcterms:modified>
</cp:coreProperties>
</file>